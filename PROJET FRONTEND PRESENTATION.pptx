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3"/>
  </p:notesMasterIdLst>
  <p:sldIdLst>
    <p:sldId id="256" r:id="rId5"/>
    <p:sldId id="258" r:id="rId6"/>
    <p:sldId id="260" r:id="rId7"/>
    <p:sldId id="275" r:id="rId8"/>
    <p:sldId id="261" r:id="rId9"/>
    <p:sldId id="262" r:id="rId10"/>
    <p:sldId id="263" r:id="rId11"/>
    <p:sldId id="264" r:id="rId12"/>
    <p:sldId id="265" r:id="rId13"/>
    <p:sldId id="266" r:id="rId14"/>
    <p:sldId id="272" r:id="rId15"/>
    <p:sldId id="268" r:id="rId16"/>
    <p:sldId id="267" r:id="rId17"/>
    <p:sldId id="270" r:id="rId18"/>
    <p:sldId id="269" r:id="rId19"/>
    <p:sldId id="271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6BF463-6EEC-4C35-A034-DFA3C969FC1C}" v="519" dt="2026-01-05T14:33:12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7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BB992-80FB-4663-B72F-6854CD85F246}" type="datetimeFigureOut">
              <a:rPr lang="fr-CH" smtClean="0"/>
              <a:t>05.01.2026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52620-183F-4A4F-9CD8-F4BBC6DE7A2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7583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552620-183F-4A4F-9CD8-F4BBC6DE7A2C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20914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CE3618-1D7A-4256-B2AF-9DB69299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824" y="6419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1A9185-A7D5-460B-98BC-0BF2EBD3E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  <a:noFill/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FC1764-6516-4F77-BF30-B8ADB3C9F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7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CAFF9F9-F806-47EC-BCAC-9921E719F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9D92491-36BD-4861-BA54-DD88E6089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8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3740E15-AB86-4E5C-A137-07E0DDC03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E097852-1F54-4EF0-A1BE-561272FCD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C2DF1F9-21CC-430E-84C8-356C73C6F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4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7F11B45B-3EDE-4B6A-903B-0AE6E9DD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F77FDDC5-477E-420D-B98F-42ABA2477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3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92C0474-B573-45C5-84C5-194CE1715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FBC62F8-64D0-4025-99AE-A04E291D9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632F945-80B5-4575-A538-29495BF8F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562CC17-43D4-4E57-AE08-83952EE59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2000"/>
                </a:schemeClr>
              </a:solidFill>
              <a:prstDash val="dashDot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E1D78CFE-04CA-4101-AFCF-196940B2D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1F2A149-A64E-4690-B049-18C156A8E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2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9313C72-D62D-4416-A6AE-7EB7D6B54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77B03BEA-76E5-4ECB-B9BB-D89D27509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1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6AF6BECE-416D-4C3A-AD6F-68B08F3CA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B9197E2A-A098-480D-A2A6-3F3B889ED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5A493EDB-6C9E-483F-86A6-0F473E590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fr-FR" noProof="0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B9ADFC4-9FD1-5B2C-177C-B734200A3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576" y="1215031"/>
            <a:ext cx="10334624" cy="2100321"/>
          </a:xfrm>
        </p:spPr>
        <p:txBody>
          <a:bodyPr>
            <a:normAutofit/>
          </a:bodyPr>
          <a:lstStyle/>
          <a:p>
            <a:pPr algn="l"/>
            <a:r>
              <a:rPr lang="fr-FR" sz="9600" noProof="0" dirty="0">
                <a:solidFill>
                  <a:schemeClr val="tx1"/>
                </a:solidFill>
              </a:rPr>
              <a:t>PROJET FRONTEND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B31823-57E8-2D31-5756-650B2FEBF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53" y="4523964"/>
            <a:ext cx="7530335" cy="893311"/>
          </a:xfrm>
        </p:spPr>
        <p:txBody>
          <a:bodyPr>
            <a:normAutofit/>
          </a:bodyPr>
          <a:lstStyle/>
          <a:p>
            <a:pPr algn="l"/>
            <a:r>
              <a:rPr lang="fr-FR" sz="4000" noProof="0" dirty="0">
                <a:solidFill>
                  <a:schemeClr val="tx1"/>
                </a:solidFill>
              </a:rPr>
              <a:t>OMDB – AFFICHAGE DE FILMS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4CD35EF-7348-4E64-8700-827E64EA4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435823" y="3320139"/>
            <a:ext cx="300774" cy="259288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295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D6E42-98CE-68D4-DEA0-F283D4E8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01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2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6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1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A7795DFA-888F-47E2-B44E-DE1D3B3E4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058957"/>
          </a:xfrm>
          <a:custGeom>
            <a:avLst/>
            <a:gdLst>
              <a:gd name="connsiteX0" fmla="*/ 0 w 12192000"/>
              <a:gd name="connsiteY0" fmla="*/ 0 h 5058957"/>
              <a:gd name="connsiteX1" fmla="*/ 12192000 w 12192000"/>
              <a:gd name="connsiteY1" fmla="*/ 0 h 5058957"/>
              <a:gd name="connsiteX2" fmla="*/ 12192000 w 12192000"/>
              <a:gd name="connsiteY2" fmla="*/ 259692 h 5058957"/>
              <a:gd name="connsiteX3" fmla="*/ 12192000 w 12192000"/>
              <a:gd name="connsiteY3" fmla="*/ 3542069 h 5058957"/>
              <a:gd name="connsiteX4" fmla="*/ 12192000 w 12192000"/>
              <a:gd name="connsiteY4" fmla="*/ 3734194 h 5058957"/>
              <a:gd name="connsiteX5" fmla="*/ 12192000 w 12192000"/>
              <a:gd name="connsiteY5" fmla="*/ 4710012 h 5058957"/>
              <a:gd name="connsiteX6" fmla="*/ 12113803 w 12192000"/>
              <a:gd name="connsiteY6" fmla="*/ 4718295 h 5058957"/>
              <a:gd name="connsiteX7" fmla="*/ 6753597 w 12192000"/>
              <a:gd name="connsiteY7" fmla="*/ 5041852 h 5058957"/>
              <a:gd name="connsiteX8" fmla="*/ 400746 w 12192000"/>
              <a:gd name="connsiteY8" fmla="*/ 4870509 h 5058957"/>
              <a:gd name="connsiteX9" fmla="*/ 0 w 12192000"/>
              <a:gd name="connsiteY9" fmla="*/ 4833533 h 5058957"/>
              <a:gd name="connsiteX10" fmla="*/ 0 w 12192000"/>
              <a:gd name="connsiteY10" fmla="*/ 3734194 h 5058957"/>
              <a:gd name="connsiteX11" fmla="*/ 0 w 12192000"/>
              <a:gd name="connsiteY11" fmla="*/ 3542069 h 5058957"/>
              <a:gd name="connsiteX12" fmla="*/ 0 w 12192000"/>
              <a:gd name="connsiteY12" fmla="*/ 259692 h 505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5058957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  <a:solidFill>
            <a:schemeClr val="bg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15AA57-9385-31B2-0FD1-753DD757EA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043" y="1286121"/>
            <a:ext cx="8679915" cy="3171375"/>
          </a:xfrm>
        </p:spPr>
        <p:txBody>
          <a:bodyPr anchor="ctr">
            <a:normAutofit/>
          </a:bodyPr>
          <a:lstStyle/>
          <a:p>
            <a:r>
              <a:rPr lang="fr-FR" sz="8000" noProof="0" dirty="0">
                <a:solidFill>
                  <a:schemeClr val="tx1"/>
                </a:solidFill>
              </a:rPr>
              <a:t>FONCTIONNALITÉS</a:t>
            </a:r>
            <a:endParaRPr lang="fr-FR" sz="60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015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3C41-F5F2-CD49-5EDB-8B27C704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F61D977-AE69-3E41-46A8-7E0521F2D4EB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dirty="0">
                <a:latin typeface="+mj-lt"/>
              </a:rPr>
              <a:t>BARRE DE RECHERCHE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4E7BF6-F0C4-259D-3546-ACADE1A74A95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dirty="0"/>
              <a:t>La barre de recherche permet d’insérer le titre d’un film afin d’envoyer une requête qui retourne les films ayant le(s) mot(s) inscrit(s) dans la barre.</a:t>
            </a:r>
          </a:p>
        </p:txBody>
      </p:sp>
      <p:pic>
        <p:nvPicPr>
          <p:cNvPr id="6" name="Image 5" descr="Une image contenant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20FF6FA0-696D-A728-D2EA-CDDF52E88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9" y="2097868"/>
            <a:ext cx="11908221" cy="155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61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04AF-7F99-BC3D-0786-8FF40282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7D444BC-3436-F671-019E-54FC4AF60040}"/>
              </a:ext>
            </a:extLst>
          </p:cNvPr>
          <p:cNvSpPr txBox="1"/>
          <p:nvPr/>
        </p:nvSpPr>
        <p:spPr>
          <a:xfrm>
            <a:off x="757924" y="253632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GESTION D’ERREURS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6AD2A9-B06A-F6CD-B405-098091F0B070}"/>
              </a:ext>
            </a:extLst>
          </p:cNvPr>
          <p:cNvSpPr txBox="1"/>
          <p:nvPr/>
        </p:nvSpPr>
        <p:spPr>
          <a:xfrm>
            <a:off x="6096000" y="1749009"/>
            <a:ext cx="5173613" cy="3352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sz="1400" noProof="0" dirty="0"/>
              <a:t>Les erreurs gérées sont : </a:t>
            </a:r>
            <a:br>
              <a:rPr lang="fr-FR" sz="1400" noProof="0" dirty="0"/>
            </a:br>
            <a:r>
              <a:rPr lang="fr-FR" sz="1400" noProof="0" dirty="0"/>
              <a:t>	1. Filtrage des réponses OMDB invalides</a:t>
            </a:r>
            <a:br>
              <a:rPr lang="fr-FR" sz="1400" noProof="0" dirty="0"/>
            </a:br>
            <a:r>
              <a:rPr lang="fr-FR" sz="1400" noProof="0" dirty="0"/>
              <a:t>	2. Côté client </a:t>
            </a:r>
            <a:br>
              <a:rPr lang="fr-FR" sz="1400" noProof="0" dirty="0"/>
            </a:br>
            <a:r>
              <a:rPr lang="fr-FR" sz="1400" noProof="0" dirty="0"/>
              <a:t>	3. Côté développeur</a:t>
            </a:r>
            <a:br>
              <a:rPr lang="fr-FR" sz="1400" noProof="0" dirty="0"/>
            </a:br>
            <a:r>
              <a:rPr lang="fr-FR" sz="1400" noProof="0" dirty="0"/>
              <a:t>	4. Site fonctionnel même s’il ne trouve pas de film</a:t>
            </a:r>
            <a:br>
              <a:rPr lang="fr-FR" sz="1400" dirty="0"/>
            </a:br>
            <a:r>
              <a:rPr lang="fr-FR" sz="1400" dirty="0"/>
              <a:t>	5. Image défaut si aucune image dans la BD</a:t>
            </a:r>
            <a:br>
              <a:rPr lang="fr-FR" sz="1400" dirty="0"/>
            </a:br>
            <a:r>
              <a:rPr lang="fr-FR" sz="1400" dirty="0"/>
              <a:t>	6. Pas d’erreur si historique vide</a:t>
            </a:r>
            <a:br>
              <a:rPr lang="fr-FR" sz="1400" dirty="0"/>
            </a:br>
            <a:r>
              <a:rPr lang="fr-FR" sz="1400" dirty="0"/>
              <a:t>	7. Pas d’erreur si favoris vide</a:t>
            </a:r>
          </a:p>
        </p:txBody>
      </p:sp>
    </p:spTree>
    <p:extLst>
      <p:ext uri="{BB962C8B-B14F-4D97-AF65-F5344CB8AC3E}">
        <p14:creationId xmlns:p14="http://schemas.microsoft.com/office/powerpoint/2010/main" val="3019318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EFDE-2DC1-C4EB-2ADA-25358D05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A36B541-4BD7-C01F-EE51-B56B37A7AFB1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FAVORIS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251774-2A50-2F37-274C-7BBA943AFD83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Il est possible de mettre en favoris un film afin de le retrouver plus tard dans la page de favoris.</a:t>
            </a:r>
          </a:p>
        </p:txBody>
      </p:sp>
      <p:pic>
        <p:nvPicPr>
          <p:cNvPr id="6" name="Image 5" descr="Une image contenant texte, homme, person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13F7768-01C8-4474-03F0-6A2EA109D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1" y="788276"/>
            <a:ext cx="5093597" cy="3492406"/>
          </a:xfrm>
          <a:prstGeom prst="rect">
            <a:avLst/>
          </a:prstGeom>
        </p:spPr>
      </p:pic>
      <p:pic>
        <p:nvPicPr>
          <p:cNvPr id="8" name="Image 7" descr="Une image contenant texte, capture d’écran, graphisme, fiction&#10;&#10;Le contenu généré par l’IA peut être incorrect.">
            <a:extLst>
              <a:ext uri="{FF2B5EF4-FFF2-40B4-BE49-F238E27FC236}">
                <a16:creationId xmlns:a16="http://schemas.microsoft.com/office/drawing/2014/main" id="{86905E95-5214-A679-798A-1597B7FD5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69" y="1058923"/>
            <a:ext cx="6096000" cy="295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9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DBE09-04BC-E9E0-7AC5-26317DAC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57CA62A-D2A8-FF87-A7F4-4BAAC8D80B26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HISTORIQUE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C93CA-AF3E-3779-3030-DD0227D53638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L’historique permet de retrouver les pages de film consultés. </a:t>
            </a:r>
          </a:p>
        </p:txBody>
      </p:sp>
      <p:pic>
        <p:nvPicPr>
          <p:cNvPr id="6" name="Image 5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36E5E342-6EEA-FBD2-3910-1D76553F2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1" y="119877"/>
            <a:ext cx="11303370" cy="500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5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F59B0-2746-DD4B-4EEE-0BE07EC6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B890D4-87A5-101E-AB8B-CA103AC5C085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FILTRES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32EC80-78CC-782F-769B-BB5DBAD2E13F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Les filtres permettent d’affiner une recherche. Il suffit de chercher un titre via la barre puis de lui appliquer un ou plusieurs filtres.</a:t>
            </a:r>
          </a:p>
        </p:txBody>
      </p:sp>
      <p:pic>
        <p:nvPicPr>
          <p:cNvPr id="6" name="Image 5" descr="Une image contenant capture d’écran, ligne, logiciel, texte&#10;&#10;Le contenu généré par l’IA peut être incorrect.">
            <a:extLst>
              <a:ext uri="{FF2B5EF4-FFF2-40B4-BE49-F238E27FC236}">
                <a16:creationId xmlns:a16="http://schemas.microsoft.com/office/drawing/2014/main" id="{1A83646A-EF9F-D72D-5DDD-D1FCF8C76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16" y="1060843"/>
            <a:ext cx="11566367" cy="292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B6AF-65D1-7EEB-1F06-071A667A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1D3BA87-A823-2666-EE30-93BE3B4978CB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TRI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9D4B36E-866E-954B-ECFB-73F9349C6D95}"/>
              </a:ext>
            </a:extLst>
          </p:cNvPr>
          <p:cNvSpPr txBox="1"/>
          <p:nvPr/>
        </p:nvSpPr>
        <p:spPr>
          <a:xfrm>
            <a:off x="6226706" y="4767659"/>
            <a:ext cx="5173613" cy="17778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Le tri permet d’afficher des résultats selon un ordre défini.</a:t>
            </a:r>
            <a:br>
              <a:rPr lang="fr-FR" noProof="0" dirty="0"/>
            </a:br>
            <a:r>
              <a:rPr lang="fr-FR" noProof="0" dirty="0"/>
              <a:t>	1. Alphabétique </a:t>
            </a:r>
            <a:r>
              <a:rPr lang="fr-FR" sz="1600" noProof="0" dirty="0"/>
              <a:t>(croissant / décroissant)</a:t>
            </a:r>
            <a:br>
              <a:rPr lang="fr-FR" noProof="0" dirty="0"/>
            </a:br>
            <a:r>
              <a:rPr lang="fr-FR" noProof="0" dirty="0"/>
              <a:t>	2. Année </a:t>
            </a:r>
            <a:r>
              <a:rPr lang="fr-FR" sz="1600" dirty="0"/>
              <a:t>(croissant / décroissant)</a:t>
            </a:r>
            <a:br>
              <a:rPr lang="fr-FR" dirty="0"/>
            </a:br>
            <a:endParaRPr lang="fr-FR" noProof="0" dirty="0"/>
          </a:p>
        </p:txBody>
      </p:sp>
      <p:pic>
        <p:nvPicPr>
          <p:cNvPr id="6" name="Image 5" descr="Une image contenant texte, capture d’écran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FFE3F8D7-1FDD-C964-AE7E-8CEC31253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161" y="320039"/>
            <a:ext cx="9743090" cy="40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5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2EF2F-F1F7-F3C6-3089-53BE6A0E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8375D13-DB12-9ACD-A916-3557552D9DD1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LIMITE DE RÉSULTATS PAR PAGE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8989EB-6C09-AD4B-9661-F7189F11CC83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Il est possible de définir le nombre de résultat affiché par page afin de ne pas la surcharger.</a:t>
            </a:r>
          </a:p>
        </p:txBody>
      </p:sp>
      <p:pic>
        <p:nvPicPr>
          <p:cNvPr id="6" name="Image 5" descr="Une image contenant logiciel, Logiciel multimédia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3BC1A77-F09C-F91D-E6A2-73B2D65C4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9" y="1941111"/>
            <a:ext cx="10710041" cy="1561527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4A497C39-645F-3392-2737-D3123A9980F8}"/>
              </a:ext>
            </a:extLst>
          </p:cNvPr>
          <p:cNvSpPr/>
          <p:nvPr/>
        </p:nvSpPr>
        <p:spPr>
          <a:xfrm>
            <a:off x="10026869" y="2764221"/>
            <a:ext cx="1860332" cy="914400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1397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11F6-4C65-9DC8-65F4-A7B628EB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43B6C0F-22DE-E952-4476-219529F37FB5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MISE EN PAGE RESPONSIVE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05EC58-3A06-3289-FA5A-29F1A121465C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L’interface est optimisée pour les ordinateurs et les interfaces horizontales ainsi que pour les interfaces verticales comme les smartphones. </a:t>
            </a:r>
          </a:p>
        </p:txBody>
      </p:sp>
      <p:pic>
        <p:nvPicPr>
          <p:cNvPr id="6" name="Image 5" descr="Une image contenant texte, Visage humain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7DDD016-DA09-28B1-FA25-6D1E760FE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512" y="401757"/>
            <a:ext cx="2367443" cy="4059832"/>
          </a:xfrm>
          <a:prstGeom prst="rect">
            <a:avLst/>
          </a:prstGeom>
        </p:spPr>
      </p:pic>
      <p:pic>
        <p:nvPicPr>
          <p:cNvPr id="8" name="Image 7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140665B4-8CBD-0B30-4C91-0E6015CF17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58"/>
          <a:stretch>
            <a:fillRect/>
          </a:stretch>
        </p:blipFill>
        <p:spPr>
          <a:xfrm>
            <a:off x="888630" y="609599"/>
            <a:ext cx="7503043" cy="364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57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3AA7-92CB-F469-89BE-D2418708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A9FB38E-4D23-AC3D-AFE3-6F1E1A97DCD4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THÈME DE FOND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572D53-66BF-4C28-A8D7-B97E1445FBA7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Possibilité de choisir un thème clair ou </a:t>
            </a:r>
            <a:r>
              <a:rPr lang="fr-FR" noProof="0" dirty="0" err="1"/>
              <a:t>obscu</a:t>
            </a:r>
            <a:r>
              <a:rPr lang="fr-FR" dirty="0"/>
              <a:t>r (limité à la page d’accueil et page de recherche)</a:t>
            </a:r>
            <a:endParaRPr lang="fr-FR" noProof="0" dirty="0"/>
          </a:p>
        </p:txBody>
      </p:sp>
      <p:pic>
        <p:nvPicPr>
          <p:cNvPr id="8" name="Image 7" descr="Une image contenant texte, logiciel, Site web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247FE54-DEDA-A5CC-CCAA-96F6BF0B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60" y="320039"/>
            <a:ext cx="6584027" cy="2651564"/>
          </a:xfrm>
          <a:prstGeom prst="rect">
            <a:avLst/>
          </a:prstGeom>
        </p:spPr>
      </p:pic>
      <p:pic>
        <p:nvPicPr>
          <p:cNvPr id="6" name="Image 5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EAB013E-1456-E89E-397E-EC52FC58C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6" y="1731127"/>
            <a:ext cx="7367752" cy="296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81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B2C45-687C-C2E3-DFEC-763314233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A3BAF07C-C39E-42EB-BB22-8D46691D9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12193061" cy="68692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E9CF54-0466-4261-9E62-0249E60E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33E32106-E8B1-4F76-9EE6-58537738A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C32C2C46-A045-44FB-8A74-5EBD650C2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6A76F79C-6683-4940-BCF7-4BCCCEE40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FF4675A3-6D07-4B1F-9BFC-AEBEA1AD06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765E127A-B6B7-4B1D-B7BD-6C8C969D29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3BCA9D9E-C72C-4751-BFA9-10B85CACE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080C708C-69BF-441B-AB75-C98160ED0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3E79964E-F8F1-4763-8892-7BC3DAE3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FE09592A-FCC9-4AE5-BA0B-730C6F3BB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96448994-820C-4BC1-ABF3-4579C6F99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9BB0D192-565A-42B9-B292-CC032D71A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6D1CA09C-5F40-4E92-A7E9-D1FCEE51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379F5AA5-2E14-4880-A5A6-07AEF2AD8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EF14BD32-D239-4DA3-98B3-775207365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CF07B250-E5E4-4624-9BD7-8D513A67B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CC5D120-7C8C-4290-865C-4EE6E4F24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C24688C6-CAE5-4EF2-B2BA-A138DA0A24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6BD31099-7C13-4901-A04F-632B1CD84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679F5FF7-82B2-4033-8FBE-63170C9378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7795DFA-888F-47E2-B44E-DE1D3B3E4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058957"/>
          </a:xfrm>
          <a:custGeom>
            <a:avLst/>
            <a:gdLst>
              <a:gd name="connsiteX0" fmla="*/ 0 w 12192000"/>
              <a:gd name="connsiteY0" fmla="*/ 0 h 5058957"/>
              <a:gd name="connsiteX1" fmla="*/ 12192000 w 12192000"/>
              <a:gd name="connsiteY1" fmla="*/ 0 h 5058957"/>
              <a:gd name="connsiteX2" fmla="*/ 12192000 w 12192000"/>
              <a:gd name="connsiteY2" fmla="*/ 259692 h 5058957"/>
              <a:gd name="connsiteX3" fmla="*/ 12192000 w 12192000"/>
              <a:gd name="connsiteY3" fmla="*/ 3542069 h 5058957"/>
              <a:gd name="connsiteX4" fmla="*/ 12192000 w 12192000"/>
              <a:gd name="connsiteY4" fmla="*/ 3734194 h 5058957"/>
              <a:gd name="connsiteX5" fmla="*/ 12192000 w 12192000"/>
              <a:gd name="connsiteY5" fmla="*/ 4710012 h 5058957"/>
              <a:gd name="connsiteX6" fmla="*/ 12113803 w 12192000"/>
              <a:gd name="connsiteY6" fmla="*/ 4718295 h 5058957"/>
              <a:gd name="connsiteX7" fmla="*/ 6753597 w 12192000"/>
              <a:gd name="connsiteY7" fmla="*/ 5041852 h 5058957"/>
              <a:gd name="connsiteX8" fmla="*/ 400746 w 12192000"/>
              <a:gd name="connsiteY8" fmla="*/ 4870509 h 5058957"/>
              <a:gd name="connsiteX9" fmla="*/ 0 w 12192000"/>
              <a:gd name="connsiteY9" fmla="*/ 4833533 h 5058957"/>
              <a:gd name="connsiteX10" fmla="*/ 0 w 12192000"/>
              <a:gd name="connsiteY10" fmla="*/ 3734194 h 5058957"/>
              <a:gd name="connsiteX11" fmla="*/ 0 w 12192000"/>
              <a:gd name="connsiteY11" fmla="*/ 3542069 h 5058957"/>
              <a:gd name="connsiteX12" fmla="*/ 0 w 12192000"/>
              <a:gd name="connsiteY12" fmla="*/ 259692 h 5058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5058957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  <a:solidFill>
            <a:schemeClr val="bg1"/>
          </a:solidFill>
          <a:ln w="444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5BE0E8-5EF7-21E6-79DB-8EB1925E0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043" y="1286121"/>
            <a:ext cx="8679915" cy="3171375"/>
          </a:xfrm>
        </p:spPr>
        <p:txBody>
          <a:bodyPr anchor="ctr">
            <a:normAutofit/>
          </a:bodyPr>
          <a:lstStyle/>
          <a:p>
            <a:r>
              <a:rPr lang="fr-FR" sz="8000" noProof="0" dirty="0">
                <a:solidFill>
                  <a:schemeClr val="tx1"/>
                </a:solidFill>
              </a:rPr>
              <a:t>POINTS BLOQUANTS &amp; AMÉLIORATIONS</a:t>
            </a:r>
          </a:p>
        </p:txBody>
      </p:sp>
    </p:spTree>
    <p:extLst>
      <p:ext uri="{BB962C8B-B14F-4D97-AF65-F5344CB8AC3E}">
        <p14:creationId xmlns:p14="http://schemas.microsoft.com/office/powerpoint/2010/main" val="2763151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00B6-0410-5DE8-1B86-4E4D9214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3EC395F-BBB6-D2F8-7E6A-91F9CA220F61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dirty="0">
                <a:latin typeface="+mj-lt"/>
                <a:ea typeface="+mj-ea"/>
                <a:cs typeface="+mj-cs"/>
              </a:rPr>
              <a:t>RECHERCHE « FIXE »</a:t>
            </a:r>
            <a:endParaRPr lang="fr-FR" sz="4000" spc="-15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DEFE004-8653-38A3-9732-500ED7A71ADF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La recherche est « dure » donc les espacent comptent et les résultats affichés ne sont que ceux contenant les mots écris dans la barre de recherche. </a:t>
            </a:r>
          </a:p>
        </p:txBody>
      </p:sp>
      <p:pic>
        <p:nvPicPr>
          <p:cNvPr id="6" name="Image 5" descr="Une image contenant texte, capture d’écran, Logiciel multimédia, personne&#10;&#10;Le contenu généré par l’IA peut être incorrect.">
            <a:extLst>
              <a:ext uri="{FF2B5EF4-FFF2-40B4-BE49-F238E27FC236}">
                <a16:creationId xmlns:a16="http://schemas.microsoft.com/office/drawing/2014/main" id="{675CE16C-62F3-9E47-371E-FF4DAEB2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701"/>
          <a:stretch>
            <a:fillRect/>
          </a:stretch>
        </p:blipFill>
        <p:spPr>
          <a:xfrm>
            <a:off x="6096000" y="320039"/>
            <a:ext cx="4902943" cy="4400300"/>
          </a:xfrm>
          <a:prstGeom prst="rect">
            <a:avLst/>
          </a:prstGeom>
        </p:spPr>
      </p:pic>
      <p:pic>
        <p:nvPicPr>
          <p:cNvPr id="8" name="Image 7" descr="Une image contenant texte, capture d’écran, Logiciel multimédia, logiciel&#10;&#10;Le contenu généré par l’IA peut être incorrect.">
            <a:extLst>
              <a:ext uri="{FF2B5EF4-FFF2-40B4-BE49-F238E27FC236}">
                <a16:creationId xmlns:a16="http://schemas.microsoft.com/office/drawing/2014/main" id="{C712D57C-DDAC-9AF4-EA40-AA99B491D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553"/>
          <a:stretch>
            <a:fillRect/>
          </a:stretch>
        </p:blipFill>
        <p:spPr>
          <a:xfrm>
            <a:off x="1424658" y="320039"/>
            <a:ext cx="4021540" cy="4393296"/>
          </a:xfrm>
          <a:prstGeom prst="rect">
            <a:avLst/>
          </a:prstGeom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A775EF7A-6518-FB89-909D-A145D4245B53}"/>
              </a:ext>
            </a:extLst>
          </p:cNvPr>
          <p:cNvSpPr/>
          <p:nvPr/>
        </p:nvSpPr>
        <p:spPr>
          <a:xfrm>
            <a:off x="1193056" y="630622"/>
            <a:ext cx="1035137" cy="32582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99ABA91-061C-64BE-5FA3-FFD248D6C405}"/>
              </a:ext>
            </a:extLst>
          </p:cNvPr>
          <p:cNvSpPr/>
          <p:nvPr/>
        </p:nvSpPr>
        <p:spPr>
          <a:xfrm>
            <a:off x="5982226" y="709450"/>
            <a:ext cx="1035137" cy="325820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95247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AF91E-C9F8-AE04-B48E-7E3E2162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E9E342F-AF32-C7EC-712D-C15760F296BC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dirty="0">
                <a:latin typeface="+mj-lt"/>
                <a:ea typeface="+mj-ea"/>
                <a:cs typeface="+mj-cs"/>
              </a:rPr>
              <a:t>PAS DE RECHERCHE SANS TITRES</a:t>
            </a:r>
            <a:endParaRPr lang="fr-FR" sz="4000" spc="-15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588867-A8AD-5B75-BE16-E01DD3C7FB12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Impossibilité d’effectuer une recherche uniquement basée sur les filtres sans titres inscrits dans la barre de recherche.</a:t>
            </a:r>
          </a:p>
        </p:txBody>
      </p:sp>
      <p:pic>
        <p:nvPicPr>
          <p:cNvPr id="6" name="Image 5" descr="Une image contenant capture d’écran, texte, logiciel, ligne&#10;&#10;Le contenu généré par l’IA peut être incorrect.">
            <a:extLst>
              <a:ext uri="{FF2B5EF4-FFF2-40B4-BE49-F238E27FC236}">
                <a16:creationId xmlns:a16="http://schemas.microsoft.com/office/drawing/2014/main" id="{741E02D1-1692-72A0-42A3-4DAD18B3A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14" y="837037"/>
            <a:ext cx="11046372" cy="32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0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32193-D359-8B63-2525-F8CCE295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4A03F2A-3F39-B568-489A-C088EF2B5ACC}"/>
              </a:ext>
            </a:extLst>
          </p:cNvPr>
          <p:cNvSpPr txBox="1"/>
          <p:nvPr/>
        </p:nvSpPr>
        <p:spPr>
          <a:xfrm>
            <a:off x="757924" y="253632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LIMITE DE</a:t>
            </a:r>
            <a:r>
              <a:rPr lang="fr-FR" sz="4000" spc="-150" dirty="0">
                <a:latin typeface="+mj-lt"/>
                <a:ea typeface="+mj-ea"/>
                <a:cs typeface="+mj-cs"/>
              </a:rPr>
              <a:t> PAGE MAIS PAS DE RÉSULTAT</a:t>
            </a:r>
            <a:endParaRPr lang="fr-FR" sz="4000" spc="-150" noProof="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F182879-C3F7-173E-6A57-F3C15070D820}"/>
              </a:ext>
            </a:extLst>
          </p:cNvPr>
          <p:cNvSpPr txBox="1"/>
          <p:nvPr/>
        </p:nvSpPr>
        <p:spPr>
          <a:xfrm>
            <a:off x="6096000" y="254385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Il est possible de choisir la limite de résultats par page mais pas de définir une limite de résultats retournés. (ex : je ne veux que les 3 premiers résultats quand je recherche « Star Wars »)</a:t>
            </a:r>
          </a:p>
        </p:txBody>
      </p:sp>
    </p:spTree>
    <p:extLst>
      <p:ext uri="{BB962C8B-B14F-4D97-AF65-F5344CB8AC3E}">
        <p14:creationId xmlns:p14="http://schemas.microsoft.com/office/powerpoint/2010/main" val="3825953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6D42-EDA4-7D31-463D-39161C9DA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9AFDBB3-1BD5-55B3-94C4-BCD6E2476B91}"/>
              </a:ext>
            </a:extLst>
          </p:cNvPr>
          <p:cNvSpPr txBox="1"/>
          <p:nvPr/>
        </p:nvSpPr>
        <p:spPr>
          <a:xfrm>
            <a:off x="757924" y="253632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HISTORIQUE DE RECHERCHE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EA12C6-ED44-FCC7-A623-B6278841E3E1}"/>
              </a:ext>
            </a:extLst>
          </p:cNvPr>
          <p:cNvSpPr txBox="1"/>
          <p:nvPr/>
        </p:nvSpPr>
        <p:spPr>
          <a:xfrm>
            <a:off x="6096000" y="254385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L’historique se limite aux pages de films consultés. Pas d’</a:t>
            </a:r>
            <a:r>
              <a:rPr lang="fr-FR" noProof="0" dirty="0" err="1"/>
              <a:t>historiqu</a:t>
            </a:r>
            <a:r>
              <a:rPr lang="fr-FR" dirty="0"/>
              <a:t>e de recherche. Fonctionnalités intéressante pouvant être ajoutée.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66315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7CB3-A61F-549B-DB4D-EAF782AC5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7D314F3-579B-1F32-FD25-463AB54D48F1}"/>
              </a:ext>
            </a:extLst>
          </p:cNvPr>
          <p:cNvSpPr txBox="1"/>
          <p:nvPr/>
        </p:nvSpPr>
        <p:spPr>
          <a:xfrm>
            <a:off x="888630" y="4760132"/>
            <a:ext cx="5093596" cy="1777829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 lvl="1" algn="r"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4000" spc="-150" noProof="0" dirty="0">
                <a:latin typeface="+mj-lt"/>
                <a:ea typeface="+mj-ea"/>
                <a:cs typeface="+mj-cs"/>
              </a:rPr>
              <a:t>THÈME DE FOND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2085625-492C-1FEF-45B2-936B80079A1F}"/>
              </a:ext>
            </a:extLst>
          </p:cNvPr>
          <p:cNvSpPr txBox="1"/>
          <p:nvPr/>
        </p:nvSpPr>
        <p:spPr>
          <a:xfrm>
            <a:off x="6226706" y="4767660"/>
            <a:ext cx="5173613" cy="1770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fr-FR" noProof="0" dirty="0"/>
              <a:t>Les fonds clairs et obscur ne fonctionnent que sur la page d’accueil et de recherche. Il faudrait l’ajouter à l’entièreté du site. </a:t>
            </a:r>
          </a:p>
        </p:txBody>
      </p:sp>
      <p:pic>
        <p:nvPicPr>
          <p:cNvPr id="6" name="Image 5" descr="Une image contenant texte, capture d’écran, fiction, Jeu PC&#10;&#10;Le contenu généré par l’IA peut être incorrect.">
            <a:extLst>
              <a:ext uri="{FF2B5EF4-FFF2-40B4-BE49-F238E27FC236}">
                <a16:creationId xmlns:a16="http://schemas.microsoft.com/office/drawing/2014/main" id="{ED226E13-FFC8-1840-96FB-77557ED23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078" y="244731"/>
            <a:ext cx="9565256" cy="4515401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50C8A1DD-2AF6-1515-E5CC-76E0571F621A}"/>
              </a:ext>
            </a:extLst>
          </p:cNvPr>
          <p:cNvSpPr/>
          <p:nvPr/>
        </p:nvSpPr>
        <p:spPr>
          <a:xfrm>
            <a:off x="9354207" y="141363"/>
            <a:ext cx="1019503" cy="583849"/>
          </a:xfrm>
          <a:prstGeom prst="ellipse">
            <a:avLst/>
          </a:prstGeom>
          <a:noFill/>
          <a:ln w="76200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89193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6BE37-6891-BE2E-81E1-FC7E1680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FF52F0-41C1-43AB-A827-85DF6A06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144995-155B-424A-B9F4-F22B71B70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209302C-6060-4E33-B0FF-231E14ABE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B7CFB76-EC56-4AEC-9C98-2E090DE43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477DDB4-CCA0-4087-A6A1-A2AAE5021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6D89F34-3A58-4580-BD09-33277B5DE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2323A6B-B80D-43C6-9C79-8A543993B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BF7A9F-A77E-438F-B3C2-963039783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F5EE77F3-F65B-4C01-91EB-3F45576BFA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2A55C6C-6A64-4546-AA40-F2343C11F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BBF96922-FB36-4155-A363-5AB6E60F0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BB8D0CC-3FD6-4257-9B8E-8F6B35BAA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9C16BD8-BDED-4F47-9EF4-B9F466D90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687913F5-87F7-499B-9C9A-DB7687145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C1FC0B82-88DF-42A3-9041-1037C9A76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1C083223-5759-48E1-B3AE-ADF4C165B0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283EA1D-83E3-4469-A48F-58ECE187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C827C81-2FCC-48CE-947D-120E6924B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FDB65A24-1E0B-4AEF-8973-DCD5417FB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D07639F-33B8-42B0-8353-70EFD44BA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4C2C74EF-6FD2-4E2D-84EA-33191D52C0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H"/>
            </a:p>
          </p:txBody>
        </p:sp>
      </p:grpSp>
      <p:sp>
        <p:nvSpPr>
          <p:cNvPr id="3" name="Sous-titre 2">
            <a:extLst>
              <a:ext uri="{FF2B5EF4-FFF2-40B4-BE49-F238E27FC236}">
                <a16:creationId xmlns:a16="http://schemas.microsoft.com/office/drawing/2014/main" id="{5DDFDC93-3FC1-967B-9F6F-35B3475C3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9237" y="5079936"/>
            <a:ext cx="8673427" cy="969087"/>
          </a:xfrm>
          <a:ln>
            <a:noFill/>
            <a:prstDash val="dash"/>
            <a:miter lim="800000"/>
          </a:ln>
        </p:spPr>
        <p:txBody>
          <a:bodyPr anchor="ctr">
            <a:normAutofit/>
          </a:bodyPr>
          <a:lstStyle/>
          <a:p>
            <a:r>
              <a:rPr lang="fr-FR" sz="2400" noProof="0">
                <a:solidFill>
                  <a:schemeClr val="bg1"/>
                </a:solidFill>
              </a:rPr>
              <a:t>Kamano Alex, Testard Kilian, Ramirez Alexandre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9DB63B5-3AC2-4401-94EF-046358A6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60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388DC5-FEC2-80E8-493E-1EFA641CE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236" y="1326996"/>
            <a:ext cx="8679915" cy="2965254"/>
          </a:xfrm>
        </p:spPr>
        <p:txBody>
          <a:bodyPr anchor="ctr">
            <a:normAutofit/>
          </a:bodyPr>
          <a:lstStyle/>
          <a:p>
            <a:r>
              <a:rPr lang="fr-FR" sz="8000" noProof="0" dirty="0">
                <a:solidFill>
                  <a:schemeClr val="tx1"/>
                </a:solidFill>
              </a:rPr>
              <a:t>Merci de votre attention</a:t>
            </a: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5BF7DBAF-F0AA-4410-8A08-2579C8508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892384" y="4560849"/>
            <a:ext cx="407233" cy="35106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4473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83555A81A4524CAB46C2F22977B3F0" ma:contentTypeVersion="11" ma:contentTypeDescription="Crée un document." ma:contentTypeScope="" ma:versionID="ab09b82f670edc52733c7fd11ec01e83">
  <xsd:schema xmlns:xsd="http://www.w3.org/2001/XMLSchema" xmlns:xs="http://www.w3.org/2001/XMLSchema" xmlns:p="http://schemas.microsoft.com/office/2006/metadata/properties" xmlns:ns3="f00892ed-1247-45d2-b96e-96e23e85f874" targetNamespace="http://schemas.microsoft.com/office/2006/metadata/properties" ma:root="true" ma:fieldsID="e5c700c218cbfaa82514b7dbf6f8604b" ns3:_="">
    <xsd:import namespace="f00892ed-1247-45d2-b96e-96e23e85f87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892ed-1247-45d2-b96e-96e23e85f87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0892ed-1247-45d2-b96e-96e23e85f874" xsi:nil="true"/>
  </documentManagement>
</p:properties>
</file>

<file path=customXml/itemProps1.xml><?xml version="1.0" encoding="utf-8"?>
<ds:datastoreItem xmlns:ds="http://schemas.openxmlformats.org/officeDocument/2006/customXml" ds:itemID="{67E75130-77DF-433E-A5A5-F5D5FB1AEE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0892ed-1247-45d2-b96e-96e23e85f8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A0BBFC-4DFB-4C4B-8020-36EFC47AB0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5E513B-E2DC-49C7-9902-6708FCE3461F}">
  <ds:schemaRefs>
    <ds:schemaRef ds:uri="http://purl.org/dc/elements/1.1/"/>
    <ds:schemaRef ds:uri="http://purl.org/dc/dcmitype/"/>
    <ds:schemaRef ds:uri="http://schemas.microsoft.com/office/2006/metadata/properties"/>
    <ds:schemaRef ds:uri="http://www.w3.org/XML/1998/namespace"/>
    <ds:schemaRef ds:uri="f00892ed-1247-45d2-b96e-96e23e85f874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ProjFront_Presentation</Template>
  <TotalTime>72</TotalTime>
  <Words>447</Words>
  <Application>Microsoft Office PowerPoint</Application>
  <PresentationFormat>Grand écran</PresentationFormat>
  <Paragraphs>35</Paragraphs>
  <Slides>18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 Light</vt:lpstr>
      <vt:lpstr>Rockwell</vt:lpstr>
      <vt:lpstr>Wingdings</vt:lpstr>
      <vt:lpstr>Atlas</vt:lpstr>
      <vt:lpstr>PROJET FRONTEND</vt:lpstr>
      <vt:lpstr>FONCTIONNALITÉS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POINTS BLOQUANTS &amp; AMÉLIORATIONS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de votre attention</vt:lpstr>
    </vt:vector>
  </TitlesOfParts>
  <Company>CPNV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Ramirez</dc:creator>
  <cp:lastModifiedBy>Alexandre Ramirez</cp:lastModifiedBy>
  <cp:revision>1</cp:revision>
  <dcterms:created xsi:type="dcterms:W3CDTF">2026-01-05T12:50:53Z</dcterms:created>
  <dcterms:modified xsi:type="dcterms:W3CDTF">2026-01-05T14:36:28Z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0x0101009483555A81A4524CAB46C2F22977B3F0</vt:lpwstr>
  </property>
</Properties>
</file>